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89" r:id="rId1"/>
  </p:sldMasterIdLst>
  <p:sldIdLst>
    <p:sldId id="256" r:id="rId2"/>
    <p:sldId id="267" r:id="rId3"/>
    <p:sldId id="265" r:id="rId4"/>
    <p:sldId id="258" r:id="rId5"/>
    <p:sldId id="257" r:id="rId6"/>
    <p:sldId id="259" r:id="rId7"/>
    <p:sldId id="261" r:id="rId8"/>
    <p:sldId id="262" r:id="rId9"/>
    <p:sldId id="260" r:id="rId10"/>
    <p:sldId id="263" r:id="rId11"/>
    <p:sldId id="264" r:id="rId12"/>
    <p:sldId id="266" r:id="rId13"/>
    <p:sldId id="268" r:id="rId14"/>
    <p:sldId id="269" r:id="rId15"/>
  </p:sldIdLst>
  <p:sldSz cx="17640300" cy="7740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38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678"/>
            <a:ext cx="17640300" cy="7750839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1075" y="2369977"/>
            <a:ext cx="12769624" cy="3022271"/>
          </a:xfrm>
        </p:spPr>
        <p:txBody>
          <a:bodyPr anchor="b"/>
          <a:lstStyle>
            <a:lvl1pPr>
              <a:defRPr sz="60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1075" y="5392246"/>
            <a:ext cx="12769624" cy="972288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516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32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48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64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802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96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122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28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4755677" y="1974400"/>
            <a:ext cx="1118093" cy="441006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13577448" y="3593635"/>
            <a:ext cx="4356565" cy="44100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5102209" y="0"/>
            <a:ext cx="992267" cy="1290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976616" y="330268"/>
            <a:ext cx="1212769" cy="866491"/>
          </a:xfrm>
        </p:spPr>
        <p:txBody>
          <a:bodyPr/>
          <a:lstStyle>
            <a:lvl1pPr>
              <a:defRPr sz="3160" b="0" i="0">
                <a:latin typeface="+mj-lt"/>
              </a:defRPr>
            </a:lvl1pPr>
          </a:lstStyle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555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365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678"/>
            <a:ext cx="17640300" cy="7750839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078" y="3022268"/>
            <a:ext cx="6295386" cy="2577761"/>
          </a:xfrm>
        </p:spPr>
        <p:txBody>
          <a:bodyPr anchor="ctr"/>
          <a:lstStyle>
            <a:lvl1pPr algn="l">
              <a:defRPr sz="4515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77011" y="3022268"/>
            <a:ext cx="5433564" cy="2577759"/>
          </a:xfrm>
        </p:spPr>
        <p:txBody>
          <a:bodyPr anchor="ctr"/>
          <a:lstStyle>
            <a:lvl1pPr marL="0" indent="0" algn="l">
              <a:buNone/>
              <a:defRPr sz="2257" cap="all">
                <a:solidFill>
                  <a:schemeClr val="accent1"/>
                </a:solidFill>
              </a:defRPr>
            </a:lvl1pPr>
            <a:lvl2pPr marL="516042" indent="0">
              <a:buNone/>
              <a:defRPr sz="2032">
                <a:solidFill>
                  <a:schemeClr val="tx1">
                    <a:tint val="75000"/>
                  </a:schemeClr>
                </a:solidFill>
              </a:defRPr>
            </a:lvl2pPr>
            <a:lvl3pPr marL="1032083" indent="0">
              <a:buNone/>
              <a:defRPr sz="1806">
                <a:solidFill>
                  <a:schemeClr val="tx1">
                    <a:tint val="75000"/>
                  </a:schemeClr>
                </a:solidFill>
              </a:defRPr>
            </a:lvl3pPr>
            <a:lvl4pPr marL="1548125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4pPr>
            <a:lvl5pPr marL="2064167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5pPr>
            <a:lvl6pPr marL="2580208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6pPr>
            <a:lvl7pPr marL="3096250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7pPr>
            <a:lvl8pPr marL="3612291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8pPr>
            <a:lvl9pPr marL="4128333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5102209" y="0"/>
            <a:ext cx="992267" cy="1290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167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1074" y="2938580"/>
            <a:ext cx="6981400" cy="385599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83231" y="2938580"/>
            <a:ext cx="6981402" cy="385599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916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1075" y="2938580"/>
            <a:ext cx="6981399" cy="650429"/>
          </a:xfrm>
        </p:spPr>
        <p:txBody>
          <a:bodyPr anchor="b">
            <a:noAutofit/>
          </a:bodyPr>
          <a:lstStyle>
            <a:lvl1pPr marL="0" indent="0">
              <a:buNone/>
              <a:defRPr sz="2709" b="0">
                <a:solidFill>
                  <a:schemeClr val="accent1"/>
                </a:solidFill>
              </a:defRPr>
            </a:lvl1pPr>
            <a:lvl2pPr marL="516042" indent="0">
              <a:buNone/>
              <a:defRPr sz="2257" b="1"/>
            </a:lvl2pPr>
            <a:lvl3pPr marL="1032083" indent="0">
              <a:buNone/>
              <a:defRPr sz="2032" b="1"/>
            </a:lvl3pPr>
            <a:lvl4pPr marL="1548125" indent="0">
              <a:buNone/>
              <a:defRPr sz="1806" b="1"/>
            </a:lvl4pPr>
            <a:lvl5pPr marL="2064167" indent="0">
              <a:buNone/>
              <a:defRPr sz="1806" b="1"/>
            </a:lvl5pPr>
            <a:lvl6pPr marL="2580208" indent="0">
              <a:buNone/>
              <a:defRPr sz="1806" b="1"/>
            </a:lvl6pPr>
            <a:lvl7pPr marL="3096250" indent="0">
              <a:buNone/>
              <a:defRPr sz="1806" b="1"/>
            </a:lvl7pPr>
            <a:lvl8pPr marL="3612291" indent="0">
              <a:buNone/>
              <a:defRPr sz="1806" b="1"/>
            </a:lvl8pPr>
            <a:lvl9pPr marL="4128333" indent="0">
              <a:buNone/>
              <a:defRPr sz="18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1074" y="3589009"/>
            <a:ext cx="6981400" cy="32055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83231" y="2938580"/>
            <a:ext cx="6981402" cy="650429"/>
          </a:xfrm>
        </p:spPr>
        <p:txBody>
          <a:bodyPr anchor="b">
            <a:noAutofit/>
          </a:bodyPr>
          <a:lstStyle>
            <a:lvl1pPr marL="0" indent="0">
              <a:buNone/>
              <a:defRPr sz="2709" b="0">
                <a:solidFill>
                  <a:schemeClr val="accent1"/>
                </a:solidFill>
              </a:defRPr>
            </a:lvl1pPr>
            <a:lvl2pPr marL="516042" indent="0">
              <a:buNone/>
              <a:defRPr sz="2257" b="1"/>
            </a:lvl2pPr>
            <a:lvl3pPr marL="1032083" indent="0">
              <a:buNone/>
              <a:defRPr sz="2032" b="1"/>
            </a:lvl3pPr>
            <a:lvl4pPr marL="1548125" indent="0">
              <a:buNone/>
              <a:defRPr sz="1806" b="1"/>
            </a:lvl4pPr>
            <a:lvl5pPr marL="2064167" indent="0">
              <a:buNone/>
              <a:defRPr sz="1806" b="1"/>
            </a:lvl5pPr>
            <a:lvl6pPr marL="2580208" indent="0">
              <a:buNone/>
              <a:defRPr sz="1806" b="1"/>
            </a:lvl6pPr>
            <a:lvl7pPr marL="3096250" indent="0">
              <a:buNone/>
              <a:defRPr sz="1806" b="1"/>
            </a:lvl7pPr>
            <a:lvl8pPr marL="3612291" indent="0">
              <a:buNone/>
              <a:defRPr sz="1806" b="1"/>
            </a:lvl8pPr>
            <a:lvl9pPr marL="4128333" indent="0">
              <a:buNone/>
              <a:defRPr sz="18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83228" y="3589009"/>
            <a:ext cx="6981402" cy="32055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830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040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5102209" y="0"/>
            <a:ext cx="992267" cy="1290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370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678"/>
            <a:ext cx="17640300" cy="7750839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075" y="1462123"/>
            <a:ext cx="4041352" cy="1806152"/>
          </a:xfrm>
        </p:spPr>
        <p:txBody>
          <a:bodyPr anchor="b"/>
          <a:lstStyle>
            <a:lvl1pPr algn="l">
              <a:defRPr sz="270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4596" y="1634137"/>
            <a:ext cx="7509375" cy="516043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671076" y="3268275"/>
            <a:ext cx="4041350" cy="3532029"/>
          </a:xfrm>
        </p:spPr>
        <p:txBody>
          <a:bodyPr/>
          <a:lstStyle>
            <a:lvl1pPr marL="0" indent="0">
              <a:buNone/>
              <a:defRPr sz="1580">
                <a:solidFill>
                  <a:schemeClr val="accent1"/>
                </a:solidFill>
              </a:defRPr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5102209" y="0"/>
            <a:ext cx="992267" cy="1290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581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678"/>
            <a:ext cx="17640300" cy="7750839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9559" y="1911270"/>
            <a:ext cx="5585314" cy="1959055"/>
          </a:xfrm>
        </p:spPr>
        <p:txBody>
          <a:bodyPr anchor="b">
            <a:normAutofit/>
          </a:bodyPr>
          <a:lstStyle>
            <a:lvl1pPr algn="l">
              <a:defRPr sz="406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73950" y="1290109"/>
            <a:ext cx="4669345" cy="51604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06"/>
            </a:lvl1pPr>
            <a:lvl2pPr marL="516042" indent="0">
              <a:buNone/>
              <a:defRPr sz="1806"/>
            </a:lvl2pPr>
            <a:lvl3pPr marL="1032083" indent="0">
              <a:buNone/>
              <a:defRPr sz="1806"/>
            </a:lvl3pPr>
            <a:lvl4pPr marL="1548125" indent="0">
              <a:buNone/>
              <a:defRPr sz="1806"/>
            </a:lvl4pPr>
            <a:lvl5pPr marL="2064167" indent="0">
              <a:buNone/>
              <a:defRPr sz="1806"/>
            </a:lvl5pPr>
            <a:lvl6pPr marL="2580208" indent="0">
              <a:buNone/>
              <a:defRPr sz="1806"/>
            </a:lvl6pPr>
            <a:lvl7pPr marL="3096250" indent="0">
              <a:buNone/>
              <a:defRPr sz="1806"/>
            </a:lvl7pPr>
            <a:lvl8pPr marL="3612291" indent="0">
              <a:buNone/>
              <a:defRPr sz="1806"/>
            </a:lvl8pPr>
            <a:lvl9pPr marL="4128333" indent="0">
              <a:buNone/>
              <a:defRPr sz="18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671076" y="4128347"/>
            <a:ext cx="5583797" cy="1548130"/>
          </a:xfrm>
        </p:spPr>
        <p:txBody>
          <a:bodyPr>
            <a:normAutofit/>
          </a:bodyPr>
          <a:lstStyle>
            <a:lvl1pPr marL="0" indent="0">
              <a:buNone/>
              <a:defRPr sz="1580">
                <a:solidFill>
                  <a:schemeClr val="accent1"/>
                </a:solidFill>
              </a:defRPr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5102209" y="0"/>
            <a:ext cx="992267" cy="1290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849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678"/>
            <a:ext cx="17640300" cy="7750839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078" y="5605903"/>
            <a:ext cx="12769622" cy="639679"/>
          </a:xfrm>
        </p:spPr>
        <p:txBody>
          <a:bodyPr anchor="b">
            <a:normAutofit/>
          </a:bodyPr>
          <a:lstStyle>
            <a:lvl1pPr algn="l">
              <a:defRPr sz="270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71075" y="774065"/>
            <a:ext cx="12769624" cy="387032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06"/>
            </a:lvl1pPr>
            <a:lvl2pPr marL="516042" indent="0">
              <a:buNone/>
              <a:defRPr sz="1806"/>
            </a:lvl2pPr>
            <a:lvl3pPr marL="1032083" indent="0">
              <a:buNone/>
              <a:defRPr sz="1806"/>
            </a:lvl3pPr>
            <a:lvl4pPr marL="1548125" indent="0">
              <a:buNone/>
              <a:defRPr sz="1806"/>
            </a:lvl4pPr>
            <a:lvl5pPr marL="2064167" indent="0">
              <a:buNone/>
              <a:defRPr sz="1806"/>
            </a:lvl5pPr>
            <a:lvl6pPr marL="2580208" indent="0">
              <a:buNone/>
              <a:defRPr sz="1806"/>
            </a:lvl6pPr>
            <a:lvl7pPr marL="3096250" indent="0">
              <a:buNone/>
              <a:defRPr sz="1806"/>
            </a:lvl7pPr>
            <a:lvl8pPr marL="3612291" indent="0">
              <a:buNone/>
              <a:defRPr sz="1806"/>
            </a:lvl8pPr>
            <a:lvl9pPr marL="4128333" indent="0">
              <a:buNone/>
              <a:defRPr sz="18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671077" y="6249254"/>
            <a:ext cx="12769621" cy="557255"/>
          </a:xfrm>
        </p:spPr>
        <p:txBody>
          <a:bodyPr>
            <a:normAutofit/>
          </a:bodyPr>
          <a:lstStyle>
            <a:lvl1pPr marL="0" indent="0">
              <a:buNone/>
              <a:defRPr sz="1354">
                <a:solidFill>
                  <a:schemeClr val="accent1"/>
                </a:solidFill>
              </a:defRPr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5102209" y="0"/>
            <a:ext cx="992267" cy="1290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520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678"/>
            <a:ext cx="17640300" cy="7750839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075" y="1200282"/>
            <a:ext cx="12769625" cy="1557335"/>
          </a:xfrm>
        </p:spPr>
        <p:txBody>
          <a:bodyPr/>
          <a:lstStyle>
            <a:lvl1pPr>
              <a:defRPr sz="45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1075" y="3999336"/>
            <a:ext cx="12769625" cy="2795235"/>
          </a:xfrm>
        </p:spPr>
        <p:txBody>
          <a:bodyPr anchor="ctr">
            <a:normAutofit/>
          </a:bodyPr>
          <a:lstStyle>
            <a:lvl1pPr marL="0" indent="0">
              <a:buNone/>
              <a:defRPr sz="2032"/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5102209" y="0"/>
            <a:ext cx="992267" cy="1290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450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678"/>
            <a:ext cx="17640300" cy="7750839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14062812" y="2970540"/>
            <a:ext cx="1160266" cy="1759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10836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9721" y="667169"/>
            <a:ext cx="1160266" cy="1759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10836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8780" y="1106714"/>
            <a:ext cx="12231745" cy="3045524"/>
          </a:xfrm>
        </p:spPr>
        <p:txBody>
          <a:bodyPr/>
          <a:lstStyle>
            <a:lvl1pPr>
              <a:defRPr sz="45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815539" y="4152237"/>
            <a:ext cx="11178226" cy="386213"/>
          </a:xfrm>
        </p:spPr>
        <p:txBody>
          <a:bodyPr anchor="t">
            <a:normAutofit/>
          </a:bodyPr>
          <a:lstStyle>
            <a:lvl1pPr marL="0" indent="0">
              <a:buNone/>
              <a:defRPr lang="en-US" sz="158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1075" y="4910603"/>
            <a:ext cx="12769625" cy="1892159"/>
          </a:xfrm>
        </p:spPr>
        <p:txBody>
          <a:bodyPr anchor="ctr">
            <a:normAutofit/>
          </a:bodyPr>
          <a:lstStyle>
            <a:lvl1pPr marL="0" indent="0">
              <a:buNone/>
              <a:defRPr sz="2032"/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15102209" y="0"/>
            <a:ext cx="992267" cy="1290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205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678"/>
            <a:ext cx="17640300" cy="7750839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074" y="2675781"/>
            <a:ext cx="12769627" cy="2057078"/>
          </a:xfrm>
        </p:spPr>
        <p:txBody>
          <a:bodyPr anchor="b"/>
          <a:lstStyle>
            <a:lvl1pPr algn="l">
              <a:defRPr sz="4515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1075" y="5680842"/>
            <a:ext cx="12769625" cy="971137"/>
          </a:xfrm>
        </p:spPr>
        <p:txBody>
          <a:bodyPr anchor="t"/>
          <a:lstStyle>
            <a:lvl1pPr marL="0" indent="0" algn="l">
              <a:buNone/>
              <a:defRPr sz="2257" cap="none">
                <a:solidFill>
                  <a:schemeClr val="accent1"/>
                </a:solidFill>
              </a:defRPr>
            </a:lvl1pPr>
            <a:lvl2pPr marL="516042" indent="0">
              <a:buNone/>
              <a:defRPr sz="2032">
                <a:solidFill>
                  <a:schemeClr val="tx1">
                    <a:tint val="75000"/>
                  </a:schemeClr>
                </a:solidFill>
              </a:defRPr>
            </a:lvl2pPr>
            <a:lvl3pPr marL="1032083" indent="0">
              <a:buNone/>
              <a:defRPr sz="1806">
                <a:solidFill>
                  <a:schemeClr val="tx1">
                    <a:tint val="75000"/>
                  </a:schemeClr>
                </a:solidFill>
              </a:defRPr>
            </a:lvl3pPr>
            <a:lvl4pPr marL="1548125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4pPr>
            <a:lvl5pPr marL="2064167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5pPr>
            <a:lvl6pPr marL="2580208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6pPr>
            <a:lvl7pPr marL="3096250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7pPr>
            <a:lvl8pPr marL="3612291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8pPr>
            <a:lvl9pPr marL="4128333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5102209" y="0"/>
            <a:ext cx="992267" cy="1290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990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1074" y="2954155"/>
            <a:ext cx="4527515" cy="650429"/>
          </a:xfrm>
        </p:spPr>
        <p:txBody>
          <a:bodyPr anchor="b">
            <a:noAutofit/>
          </a:bodyPr>
          <a:lstStyle>
            <a:lvl1pPr marL="0" indent="0">
              <a:buNone/>
              <a:defRPr sz="2709" b="0">
                <a:solidFill>
                  <a:schemeClr val="accent1"/>
                </a:solidFill>
              </a:defRPr>
            </a:lvl1pPr>
            <a:lvl2pPr marL="516042" indent="0">
              <a:buNone/>
              <a:defRPr sz="2257" b="1"/>
            </a:lvl2pPr>
            <a:lvl3pPr marL="1032083" indent="0">
              <a:buNone/>
              <a:defRPr sz="2032" b="1"/>
            </a:lvl3pPr>
            <a:lvl4pPr marL="1548125" indent="0">
              <a:buNone/>
              <a:defRPr sz="1806" b="1"/>
            </a:lvl4pPr>
            <a:lvl5pPr marL="2064167" indent="0">
              <a:buNone/>
              <a:defRPr sz="1806" b="1"/>
            </a:lvl5pPr>
            <a:lvl6pPr marL="2580208" indent="0">
              <a:buNone/>
              <a:defRPr sz="1806" b="1"/>
            </a:lvl6pPr>
            <a:lvl7pPr marL="3096250" indent="0">
              <a:buNone/>
              <a:defRPr sz="1806" b="1"/>
            </a:lvl7pPr>
            <a:lvl8pPr marL="3612291" indent="0">
              <a:buNone/>
              <a:defRPr sz="1806" b="1"/>
            </a:lvl8pPr>
            <a:lvl9pPr marL="4128333" indent="0">
              <a:buNone/>
              <a:defRPr sz="18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671074" y="3604584"/>
            <a:ext cx="4527515" cy="3198177"/>
          </a:xfrm>
        </p:spPr>
        <p:txBody>
          <a:bodyPr anchor="t">
            <a:normAutofit/>
          </a:bodyPr>
          <a:lstStyle>
            <a:lvl1pPr marL="0" indent="0">
              <a:buNone/>
              <a:defRPr sz="1580"/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9343" y="2938582"/>
            <a:ext cx="4550972" cy="650429"/>
          </a:xfrm>
        </p:spPr>
        <p:txBody>
          <a:bodyPr anchor="b">
            <a:noAutofit/>
          </a:bodyPr>
          <a:lstStyle>
            <a:lvl1pPr marL="0" indent="0">
              <a:buNone/>
              <a:defRPr sz="2709" b="0">
                <a:solidFill>
                  <a:schemeClr val="accent1"/>
                </a:solidFill>
              </a:defRPr>
            </a:lvl1pPr>
            <a:lvl2pPr marL="516042" indent="0">
              <a:buNone/>
              <a:defRPr sz="2257" b="1"/>
            </a:lvl2pPr>
            <a:lvl3pPr marL="1032083" indent="0">
              <a:buNone/>
              <a:defRPr sz="2032" b="1"/>
            </a:lvl3pPr>
            <a:lvl4pPr marL="1548125" indent="0">
              <a:buNone/>
              <a:defRPr sz="1806" b="1"/>
            </a:lvl4pPr>
            <a:lvl5pPr marL="2064167" indent="0">
              <a:buNone/>
              <a:defRPr sz="1806" b="1"/>
            </a:lvl5pPr>
            <a:lvl6pPr marL="2580208" indent="0">
              <a:buNone/>
              <a:defRPr sz="1806" b="1"/>
            </a:lvl6pPr>
            <a:lvl7pPr marL="3096250" indent="0">
              <a:buNone/>
              <a:defRPr sz="1806" b="1"/>
            </a:lvl7pPr>
            <a:lvl8pPr marL="3612291" indent="0">
              <a:buNone/>
              <a:defRPr sz="1806" b="1"/>
            </a:lvl8pPr>
            <a:lvl9pPr marL="4128333" indent="0">
              <a:buNone/>
              <a:defRPr sz="18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6529343" y="3604585"/>
            <a:ext cx="4550972" cy="3198176"/>
          </a:xfrm>
        </p:spPr>
        <p:txBody>
          <a:bodyPr anchor="t">
            <a:normAutofit/>
          </a:bodyPr>
          <a:lstStyle>
            <a:lvl1pPr marL="0" indent="0">
              <a:buNone/>
              <a:defRPr sz="1580"/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411070" y="2954156"/>
            <a:ext cx="4573614" cy="650428"/>
          </a:xfrm>
        </p:spPr>
        <p:txBody>
          <a:bodyPr anchor="b">
            <a:noAutofit/>
          </a:bodyPr>
          <a:lstStyle>
            <a:lvl1pPr marL="0" indent="0">
              <a:buNone/>
              <a:defRPr sz="2709" b="0">
                <a:solidFill>
                  <a:schemeClr val="accent1"/>
                </a:solidFill>
              </a:defRPr>
            </a:lvl1pPr>
            <a:lvl2pPr marL="516042" indent="0">
              <a:buNone/>
              <a:defRPr sz="2257" b="1"/>
            </a:lvl2pPr>
            <a:lvl3pPr marL="1032083" indent="0">
              <a:buNone/>
              <a:defRPr sz="2032" b="1"/>
            </a:lvl3pPr>
            <a:lvl4pPr marL="1548125" indent="0">
              <a:buNone/>
              <a:defRPr sz="1806" b="1"/>
            </a:lvl4pPr>
            <a:lvl5pPr marL="2064167" indent="0">
              <a:buNone/>
              <a:defRPr sz="1806" b="1"/>
            </a:lvl5pPr>
            <a:lvl6pPr marL="2580208" indent="0">
              <a:buNone/>
              <a:defRPr sz="1806" b="1"/>
            </a:lvl6pPr>
            <a:lvl7pPr marL="3096250" indent="0">
              <a:buNone/>
              <a:defRPr sz="1806" b="1"/>
            </a:lvl7pPr>
            <a:lvl8pPr marL="3612291" indent="0">
              <a:buNone/>
              <a:defRPr sz="1806" b="1"/>
            </a:lvl8pPr>
            <a:lvl9pPr marL="4128333" indent="0">
              <a:buNone/>
              <a:defRPr sz="18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411070" y="3604585"/>
            <a:ext cx="4578953" cy="3198174"/>
          </a:xfrm>
        </p:spPr>
        <p:txBody>
          <a:bodyPr anchor="t">
            <a:normAutofit/>
          </a:bodyPr>
          <a:lstStyle>
            <a:lvl1pPr marL="0" indent="0">
              <a:buNone/>
              <a:defRPr sz="1580"/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6371996" y="2900355"/>
            <a:ext cx="0" cy="3941997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1245693" y="2900355"/>
            <a:ext cx="0" cy="3941997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213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1072" y="5116239"/>
            <a:ext cx="4413604" cy="650429"/>
          </a:xfrm>
        </p:spPr>
        <p:txBody>
          <a:bodyPr anchor="b">
            <a:noAutofit/>
          </a:bodyPr>
          <a:lstStyle>
            <a:lvl1pPr marL="0" indent="0">
              <a:buNone/>
              <a:defRPr sz="2709" b="0">
                <a:solidFill>
                  <a:schemeClr val="accent1"/>
                </a:solidFill>
              </a:defRPr>
            </a:lvl1pPr>
            <a:lvl2pPr marL="516042" indent="0">
              <a:buNone/>
              <a:defRPr sz="2257" b="1"/>
            </a:lvl2pPr>
            <a:lvl3pPr marL="1032083" indent="0">
              <a:buNone/>
              <a:defRPr sz="2032" b="1"/>
            </a:lvl3pPr>
            <a:lvl4pPr marL="1548125" indent="0">
              <a:buNone/>
              <a:defRPr sz="1806" b="1"/>
            </a:lvl4pPr>
            <a:lvl5pPr marL="2064167" indent="0">
              <a:buNone/>
              <a:defRPr sz="1806" b="1"/>
            </a:lvl5pPr>
            <a:lvl6pPr marL="2580208" indent="0">
              <a:buNone/>
              <a:defRPr sz="1806" b="1"/>
            </a:lvl6pPr>
            <a:lvl7pPr marL="3096250" indent="0">
              <a:buNone/>
              <a:defRPr sz="1806" b="1"/>
            </a:lvl7pPr>
            <a:lvl8pPr marL="3612291" indent="0">
              <a:buNone/>
              <a:defRPr sz="1806" b="1"/>
            </a:lvl8pPr>
            <a:lvl9pPr marL="4128333" indent="0">
              <a:buNone/>
              <a:defRPr sz="18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930930" y="2938580"/>
            <a:ext cx="3893891" cy="179634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06"/>
            </a:lvl1pPr>
            <a:lvl2pPr marL="516042" indent="0">
              <a:buNone/>
              <a:defRPr sz="1806"/>
            </a:lvl2pPr>
            <a:lvl3pPr marL="1032083" indent="0">
              <a:buNone/>
              <a:defRPr sz="1806"/>
            </a:lvl3pPr>
            <a:lvl4pPr marL="1548125" indent="0">
              <a:buNone/>
              <a:defRPr sz="1806"/>
            </a:lvl4pPr>
            <a:lvl5pPr marL="2064167" indent="0">
              <a:buNone/>
              <a:defRPr sz="1806"/>
            </a:lvl5pPr>
            <a:lvl6pPr marL="2580208" indent="0">
              <a:buNone/>
              <a:defRPr sz="1806"/>
            </a:lvl6pPr>
            <a:lvl7pPr marL="3096250" indent="0">
              <a:buNone/>
              <a:defRPr sz="1806"/>
            </a:lvl7pPr>
            <a:lvl8pPr marL="3612291" indent="0">
              <a:buNone/>
              <a:defRPr sz="1806"/>
            </a:lvl8pPr>
            <a:lvl9pPr marL="4128333" indent="0">
              <a:buNone/>
              <a:defRPr sz="18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671073" y="5766669"/>
            <a:ext cx="4413601" cy="1036092"/>
          </a:xfrm>
        </p:spPr>
        <p:txBody>
          <a:bodyPr anchor="t">
            <a:normAutofit/>
          </a:bodyPr>
          <a:lstStyle>
            <a:lvl1pPr marL="0" indent="0">
              <a:buNone/>
              <a:defRPr sz="1580"/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15889" y="5116240"/>
            <a:ext cx="4408290" cy="734962"/>
          </a:xfrm>
        </p:spPr>
        <p:txBody>
          <a:bodyPr anchor="b">
            <a:noAutofit/>
          </a:bodyPr>
          <a:lstStyle>
            <a:lvl1pPr marL="0" indent="0">
              <a:buNone/>
              <a:defRPr sz="2709" b="0">
                <a:solidFill>
                  <a:schemeClr val="accent1"/>
                </a:solidFill>
              </a:defRPr>
            </a:lvl1pPr>
            <a:lvl2pPr marL="516042" indent="0">
              <a:buNone/>
              <a:defRPr sz="2257" b="1"/>
            </a:lvl2pPr>
            <a:lvl3pPr marL="1032083" indent="0">
              <a:buNone/>
              <a:defRPr sz="2032" b="1"/>
            </a:lvl3pPr>
            <a:lvl4pPr marL="1548125" indent="0">
              <a:buNone/>
              <a:defRPr sz="1806" b="1"/>
            </a:lvl4pPr>
            <a:lvl5pPr marL="2064167" indent="0">
              <a:buNone/>
              <a:defRPr sz="1806" b="1"/>
            </a:lvl5pPr>
            <a:lvl6pPr marL="2580208" indent="0">
              <a:buNone/>
              <a:defRPr sz="1806" b="1"/>
            </a:lvl6pPr>
            <a:lvl7pPr marL="3096250" indent="0">
              <a:buNone/>
              <a:defRPr sz="1806" b="1"/>
            </a:lvl7pPr>
            <a:lvl8pPr marL="3612291" indent="0">
              <a:buNone/>
              <a:defRPr sz="1806" b="1"/>
            </a:lvl8pPr>
            <a:lvl9pPr marL="4128333" indent="0">
              <a:buNone/>
              <a:defRPr sz="18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870433" y="2938580"/>
            <a:ext cx="3893889" cy="179634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06"/>
            </a:lvl1pPr>
            <a:lvl2pPr marL="516042" indent="0">
              <a:buNone/>
              <a:defRPr sz="1806"/>
            </a:lvl2pPr>
            <a:lvl3pPr marL="1032083" indent="0">
              <a:buNone/>
              <a:defRPr sz="1806"/>
            </a:lvl3pPr>
            <a:lvl4pPr marL="1548125" indent="0">
              <a:buNone/>
              <a:defRPr sz="1806"/>
            </a:lvl4pPr>
            <a:lvl5pPr marL="2064167" indent="0">
              <a:buNone/>
              <a:defRPr sz="1806"/>
            </a:lvl5pPr>
            <a:lvl6pPr marL="2580208" indent="0">
              <a:buNone/>
              <a:defRPr sz="1806"/>
            </a:lvl6pPr>
            <a:lvl7pPr marL="3096250" indent="0">
              <a:buNone/>
              <a:defRPr sz="1806"/>
            </a:lvl7pPr>
            <a:lvl8pPr marL="3612291" indent="0">
              <a:buNone/>
              <a:defRPr sz="1806"/>
            </a:lvl8pPr>
            <a:lvl9pPr marL="4128333" indent="0">
              <a:buNone/>
              <a:defRPr sz="18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6610577" y="5851202"/>
            <a:ext cx="4413602" cy="951560"/>
          </a:xfrm>
        </p:spPr>
        <p:txBody>
          <a:bodyPr anchor="t">
            <a:normAutofit/>
          </a:bodyPr>
          <a:lstStyle>
            <a:lvl1pPr marL="0" indent="0">
              <a:buNone/>
              <a:defRPr sz="1580"/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551031" y="5116241"/>
            <a:ext cx="4413602" cy="734960"/>
          </a:xfrm>
        </p:spPr>
        <p:txBody>
          <a:bodyPr anchor="b">
            <a:noAutofit/>
          </a:bodyPr>
          <a:lstStyle>
            <a:lvl1pPr marL="0" indent="0">
              <a:buNone/>
              <a:defRPr sz="2709" b="0">
                <a:solidFill>
                  <a:schemeClr val="accent1"/>
                </a:solidFill>
              </a:defRPr>
            </a:lvl1pPr>
            <a:lvl2pPr marL="516042" indent="0">
              <a:buNone/>
              <a:defRPr sz="2257" b="1"/>
            </a:lvl2pPr>
            <a:lvl3pPr marL="1032083" indent="0">
              <a:buNone/>
              <a:defRPr sz="2032" b="1"/>
            </a:lvl3pPr>
            <a:lvl4pPr marL="1548125" indent="0">
              <a:buNone/>
              <a:defRPr sz="1806" b="1"/>
            </a:lvl4pPr>
            <a:lvl5pPr marL="2064167" indent="0">
              <a:buNone/>
              <a:defRPr sz="1806" b="1"/>
            </a:lvl5pPr>
            <a:lvl6pPr marL="2580208" indent="0">
              <a:buNone/>
              <a:defRPr sz="1806" b="1"/>
            </a:lvl6pPr>
            <a:lvl7pPr marL="3096250" indent="0">
              <a:buNone/>
              <a:defRPr sz="1806" b="1"/>
            </a:lvl7pPr>
            <a:lvl8pPr marL="3612291" indent="0">
              <a:buNone/>
              <a:defRPr sz="1806" b="1"/>
            </a:lvl8pPr>
            <a:lvl9pPr marL="4128333" indent="0">
              <a:buNone/>
              <a:defRPr sz="18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1810885" y="2938580"/>
            <a:ext cx="3893891" cy="179634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06"/>
            </a:lvl1pPr>
            <a:lvl2pPr marL="516042" indent="0">
              <a:buNone/>
              <a:defRPr sz="1806"/>
            </a:lvl2pPr>
            <a:lvl3pPr marL="1032083" indent="0">
              <a:buNone/>
              <a:defRPr sz="1806"/>
            </a:lvl3pPr>
            <a:lvl4pPr marL="1548125" indent="0">
              <a:buNone/>
              <a:defRPr sz="1806"/>
            </a:lvl4pPr>
            <a:lvl5pPr marL="2064167" indent="0">
              <a:buNone/>
              <a:defRPr sz="1806"/>
            </a:lvl5pPr>
            <a:lvl6pPr marL="2580208" indent="0">
              <a:buNone/>
              <a:defRPr sz="1806"/>
            </a:lvl6pPr>
            <a:lvl7pPr marL="3096250" indent="0">
              <a:buNone/>
              <a:defRPr sz="1806"/>
            </a:lvl7pPr>
            <a:lvl8pPr marL="3612291" indent="0">
              <a:buNone/>
              <a:defRPr sz="1806"/>
            </a:lvl8pPr>
            <a:lvl9pPr marL="4128333" indent="0">
              <a:buNone/>
              <a:defRPr sz="18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551032" y="5851201"/>
            <a:ext cx="4413601" cy="951558"/>
          </a:xfrm>
        </p:spPr>
        <p:txBody>
          <a:bodyPr anchor="t">
            <a:normAutofit/>
          </a:bodyPr>
          <a:lstStyle>
            <a:lvl1pPr marL="0" indent="0">
              <a:buNone/>
              <a:defRPr sz="1580"/>
            </a:lvl1pPr>
            <a:lvl2pPr marL="516042" indent="0">
              <a:buNone/>
              <a:defRPr sz="1354"/>
            </a:lvl2pPr>
            <a:lvl3pPr marL="1032083" indent="0">
              <a:buNone/>
              <a:defRPr sz="1129"/>
            </a:lvl3pPr>
            <a:lvl4pPr marL="1548125" indent="0">
              <a:buNone/>
              <a:defRPr sz="1016"/>
            </a:lvl4pPr>
            <a:lvl5pPr marL="2064167" indent="0">
              <a:buNone/>
              <a:defRPr sz="1016"/>
            </a:lvl5pPr>
            <a:lvl6pPr marL="2580208" indent="0">
              <a:buNone/>
              <a:defRPr sz="1016"/>
            </a:lvl6pPr>
            <a:lvl7pPr marL="3096250" indent="0">
              <a:buNone/>
              <a:defRPr sz="1016"/>
            </a:lvl7pPr>
            <a:lvl8pPr marL="3612291" indent="0">
              <a:buNone/>
              <a:defRPr sz="1016"/>
            </a:lvl8pPr>
            <a:lvl9pPr marL="4128333" indent="0">
              <a:buNone/>
              <a:defRPr sz="10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349109" y="2938580"/>
            <a:ext cx="0" cy="3970321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288381" y="2938580"/>
            <a:ext cx="0" cy="394199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182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073" y="1098983"/>
            <a:ext cx="12769627" cy="7979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725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678"/>
            <a:ext cx="17640300" cy="7750839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09495" y="1443012"/>
            <a:ext cx="2045784" cy="535975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1074" y="1443012"/>
            <a:ext cx="9039418" cy="53597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5102209" y="0"/>
            <a:ext cx="992267" cy="1290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892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">
              <a:schemeClr val="bg2">
                <a:tint val="93000"/>
                <a:shade val="98000"/>
                <a:satMod val="150000"/>
                <a:lumMod val="102000"/>
              </a:schemeClr>
            </a:gs>
            <a:gs pos="50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678"/>
            <a:ext cx="17640300" cy="7750839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671074" y="1098983"/>
            <a:ext cx="12676669" cy="7979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1076" y="2938580"/>
            <a:ext cx="12676668" cy="3855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10577" y="7217001"/>
            <a:ext cx="1433273" cy="34402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29" b="1" i="0">
                <a:solidFill>
                  <a:schemeClr val="accent1"/>
                </a:solidFill>
              </a:defRPr>
            </a:lvl1pPr>
          </a:lstStyle>
          <a:p>
            <a:fld id="{E2F9E4C8-CC51-425D-B041-56CDABEB565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4469" y="7214492"/>
            <a:ext cx="5584641" cy="3440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29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5102209" y="0"/>
            <a:ext cx="992267" cy="1290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978832" y="333791"/>
            <a:ext cx="1212769" cy="86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16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F397EBC1-6DE1-47DC-826A-DDA45CEA2A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80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0" r:id="rId1"/>
    <p:sldLayoutId id="2147484691" r:id="rId2"/>
    <p:sldLayoutId id="2147484692" r:id="rId3"/>
    <p:sldLayoutId id="2147484693" r:id="rId4"/>
    <p:sldLayoutId id="2147484694" r:id="rId5"/>
    <p:sldLayoutId id="2147484695" r:id="rId6"/>
    <p:sldLayoutId id="2147484696" r:id="rId7"/>
    <p:sldLayoutId id="2147484697" r:id="rId8"/>
    <p:sldLayoutId id="2147484698" r:id="rId9"/>
    <p:sldLayoutId id="2147484699" r:id="rId10"/>
    <p:sldLayoutId id="2147484700" r:id="rId11"/>
    <p:sldLayoutId id="2147484701" r:id="rId12"/>
    <p:sldLayoutId id="2147484702" r:id="rId13"/>
    <p:sldLayoutId id="2147484703" r:id="rId14"/>
    <p:sldLayoutId id="2147484704" r:id="rId15"/>
    <p:sldLayoutId id="2147484705" r:id="rId16"/>
    <p:sldLayoutId id="2147484706" r:id="rId17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516042" rtl="0" eaLnBrk="1" latinLnBrk="0" hangingPunct="1">
        <a:spcBef>
          <a:spcPct val="0"/>
        </a:spcBef>
        <a:buNone/>
        <a:defRPr sz="4063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87031" indent="-387031" algn="l" defTabSz="516042" rtl="0" eaLnBrk="1" latinLnBrk="0" hangingPunct="1">
        <a:spcBef>
          <a:spcPts val="11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32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38568" indent="-322526" algn="l" defTabSz="516042" rtl="0" eaLnBrk="1" latinLnBrk="0" hangingPunct="1">
        <a:spcBef>
          <a:spcPts val="11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6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90104" indent="-258021" algn="l" defTabSz="516042" rtl="0" eaLnBrk="1" latinLnBrk="0" hangingPunct="1">
        <a:spcBef>
          <a:spcPts val="11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8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806146" indent="-258021" algn="l" defTabSz="516042" rtl="0" eaLnBrk="1" latinLnBrk="0" hangingPunct="1">
        <a:spcBef>
          <a:spcPts val="11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4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322187" indent="-258021" algn="l" defTabSz="516042" rtl="0" eaLnBrk="1" latinLnBrk="0" hangingPunct="1">
        <a:spcBef>
          <a:spcPts val="11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4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838229" indent="-258021" algn="l" defTabSz="516042" rtl="0" eaLnBrk="1" latinLnBrk="0" hangingPunct="1">
        <a:spcBef>
          <a:spcPts val="11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4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354271" indent="-258021" algn="l" defTabSz="516042" rtl="0" eaLnBrk="1" latinLnBrk="0" hangingPunct="1">
        <a:spcBef>
          <a:spcPts val="11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4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870312" indent="-258021" algn="l" defTabSz="516042" rtl="0" eaLnBrk="1" latinLnBrk="0" hangingPunct="1">
        <a:spcBef>
          <a:spcPts val="11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4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386354" indent="-258021" algn="l" defTabSz="516042" rtl="0" eaLnBrk="1" latinLnBrk="0" hangingPunct="1">
        <a:spcBef>
          <a:spcPts val="112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4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6042" rtl="0" eaLnBrk="1" latinLnBrk="0" hangingPunct="1">
        <a:defRPr sz="2032" kern="1200">
          <a:solidFill>
            <a:schemeClr val="tx1"/>
          </a:solidFill>
          <a:latin typeface="+mn-lt"/>
          <a:ea typeface="+mn-ea"/>
          <a:cs typeface="+mn-cs"/>
        </a:defRPr>
      </a:lvl1pPr>
      <a:lvl2pPr marL="516042" algn="l" defTabSz="516042" rtl="0" eaLnBrk="1" latinLnBrk="0" hangingPunct="1">
        <a:defRPr sz="2032" kern="1200">
          <a:solidFill>
            <a:schemeClr val="tx1"/>
          </a:solidFill>
          <a:latin typeface="+mn-lt"/>
          <a:ea typeface="+mn-ea"/>
          <a:cs typeface="+mn-cs"/>
        </a:defRPr>
      </a:lvl2pPr>
      <a:lvl3pPr marL="1032083" algn="l" defTabSz="516042" rtl="0" eaLnBrk="1" latinLnBrk="0" hangingPunct="1">
        <a:defRPr sz="2032" kern="1200">
          <a:solidFill>
            <a:schemeClr val="tx1"/>
          </a:solidFill>
          <a:latin typeface="+mn-lt"/>
          <a:ea typeface="+mn-ea"/>
          <a:cs typeface="+mn-cs"/>
        </a:defRPr>
      </a:lvl3pPr>
      <a:lvl4pPr marL="1548125" algn="l" defTabSz="516042" rtl="0" eaLnBrk="1" latinLnBrk="0" hangingPunct="1">
        <a:defRPr sz="2032" kern="1200">
          <a:solidFill>
            <a:schemeClr val="tx1"/>
          </a:solidFill>
          <a:latin typeface="+mn-lt"/>
          <a:ea typeface="+mn-ea"/>
          <a:cs typeface="+mn-cs"/>
        </a:defRPr>
      </a:lvl4pPr>
      <a:lvl5pPr marL="2064167" algn="l" defTabSz="516042" rtl="0" eaLnBrk="1" latinLnBrk="0" hangingPunct="1">
        <a:defRPr sz="2032" kern="1200">
          <a:solidFill>
            <a:schemeClr val="tx1"/>
          </a:solidFill>
          <a:latin typeface="+mn-lt"/>
          <a:ea typeface="+mn-ea"/>
          <a:cs typeface="+mn-cs"/>
        </a:defRPr>
      </a:lvl5pPr>
      <a:lvl6pPr marL="2580208" algn="l" defTabSz="516042" rtl="0" eaLnBrk="1" latinLnBrk="0" hangingPunct="1">
        <a:defRPr sz="2032" kern="1200">
          <a:solidFill>
            <a:schemeClr val="tx1"/>
          </a:solidFill>
          <a:latin typeface="+mn-lt"/>
          <a:ea typeface="+mn-ea"/>
          <a:cs typeface="+mn-cs"/>
        </a:defRPr>
      </a:lvl6pPr>
      <a:lvl7pPr marL="3096250" algn="l" defTabSz="516042" rtl="0" eaLnBrk="1" latinLnBrk="0" hangingPunct="1">
        <a:defRPr sz="2032" kern="1200">
          <a:solidFill>
            <a:schemeClr val="tx1"/>
          </a:solidFill>
          <a:latin typeface="+mn-lt"/>
          <a:ea typeface="+mn-ea"/>
          <a:cs typeface="+mn-cs"/>
        </a:defRPr>
      </a:lvl7pPr>
      <a:lvl8pPr marL="3612291" algn="l" defTabSz="516042" rtl="0" eaLnBrk="1" latinLnBrk="0" hangingPunct="1">
        <a:defRPr sz="2032" kern="1200">
          <a:solidFill>
            <a:schemeClr val="tx1"/>
          </a:solidFill>
          <a:latin typeface="+mn-lt"/>
          <a:ea typeface="+mn-ea"/>
          <a:cs typeface="+mn-cs"/>
        </a:defRPr>
      </a:lvl8pPr>
      <a:lvl9pPr marL="4128333" algn="l" defTabSz="516042" rtl="0" eaLnBrk="1" latinLnBrk="0" hangingPunct="1">
        <a:defRPr sz="20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37CD-DADA-29F3-B89C-667655473A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1074" y="3007777"/>
            <a:ext cx="13959069" cy="1087775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FLIPKART PRODUCT &amp; SALES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C3C05-D1D3-4C90-9E2B-4617A92C1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1074" y="4152862"/>
            <a:ext cx="14227293" cy="251616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 USED-</a:t>
            </a:r>
          </a:p>
          <a:p>
            <a:pPr algn="ctr"/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MY SQL WORKBENCH</a:t>
            </a:r>
          </a:p>
          <a:p>
            <a:pPr algn="r"/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BY-</a:t>
            </a:r>
          </a:p>
          <a:p>
            <a:pPr algn="r"/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OISHIKA BOSE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9F026-D8BC-BC11-DC9E-7FD54DB67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75" y="792479"/>
            <a:ext cx="3505200" cy="215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45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75DF4-F84F-60F0-EC28-F59A1C0E1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74" y="1098983"/>
            <a:ext cx="14446750" cy="797953"/>
          </a:xfrm>
        </p:spPr>
        <p:txBody>
          <a:bodyPr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       &amp;       OBJECTIVE OF THE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9F87-78A1-C64D-AFA8-895B7D5FE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6864" y="2938580"/>
            <a:ext cx="7835610" cy="385599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platform has high sales volume, but performance varies across products, sellers, discounts, and time periods.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delays, overstocking, and uneven product performance impact customer satisfaction and profitability.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lacks clear visibility into key drivers of revenue, demand, and operational efficiency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11AB7-96C3-DF7D-92F5-CD0F73E89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83230" y="2938580"/>
            <a:ext cx="7835609" cy="385599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sales, revenue, and profit trends across time and categories.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top and underperforming products and sellers.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the impact of discounts and pricing on sales volume.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delivery performance and operational efficiency.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data-driven insights to improve profitability, inventory management, and customer experience.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794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4B02A-489A-8578-5D4E-5F6DF558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74" y="1098983"/>
            <a:ext cx="13447006" cy="797953"/>
          </a:xfrm>
        </p:spPr>
        <p:txBody>
          <a:bodyPr/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CFFF9-6A25-B2FF-C47F-3D59D1888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523743"/>
            <a:ext cx="10338816" cy="2989977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dataset captures e-commerce 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product, seller, pricing, and sales performance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from a Flipkart-like marketplace.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is designed to support sales analysis, product performance evaluation, seller benchmarking, and pricing strategy insights using SQL.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 some data cleaning with date formats, deleted unnecessary columns, eliminated null values.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Imported data from command prompt.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Rows-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80000, 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Columns-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Source-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Kaggle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17C135-5E71-80F7-8224-41610E6F6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76125"/>
            <a:ext cx="15921715" cy="1792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6C6EC9-9CD0-5B83-EFE5-2B4B85191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2925" y="2575455"/>
            <a:ext cx="2717779" cy="9313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C69102-42AB-3F2A-9EA2-2140BEFC429C}"/>
              </a:ext>
            </a:extLst>
          </p:cNvPr>
          <p:cNvSpPr txBox="1"/>
          <p:nvPr/>
        </p:nvSpPr>
        <p:spPr>
          <a:xfrm>
            <a:off x="11533632" y="2523743"/>
            <a:ext cx="128016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4393E6-4CA3-1188-7251-7BFBD41088E1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2813792" y="3031575"/>
            <a:ext cx="769133" cy="9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55415DB-A7D2-0B6E-76D9-270A40F77541}"/>
              </a:ext>
            </a:extLst>
          </p:cNvPr>
          <p:cNvSpPr txBox="1"/>
          <p:nvPr/>
        </p:nvSpPr>
        <p:spPr>
          <a:xfrm>
            <a:off x="11533632" y="4191939"/>
            <a:ext cx="128016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for import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D50E02B-0976-6F3E-0ACF-EC2117D45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8908" y="3811997"/>
            <a:ext cx="2751796" cy="165897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0768F8-9AD3-DDB2-53FA-281F8ED1A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3791" y="4584474"/>
            <a:ext cx="769133" cy="14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74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1CAA-E480-368D-B12B-8391468F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613ABF-66AF-B252-9EFC-C3F1E046D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12" y="3274735"/>
            <a:ext cx="4947848" cy="9297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8FAB24-1A2D-6CC8-DC2F-C26297F05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986" y="3280196"/>
            <a:ext cx="2225855" cy="8992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741006-7FE0-669F-60F0-683814565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12" y="4355660"/>
            <a:ext cx="4947848" cy="8992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356900-CDA3-4A6B-BA7E-5760D883E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985" y="4351979"/>
            <a:ext cx="2225855" cy="8992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48BAAE-6321-5597-F8C9-C396F30565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12" y="5436585"/>
            <a:ext cx="4947848" cy="110018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A4F918E-46AD-BE52-3872-C306946642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3984" y="5423762"/>
            <a:ext cx="2225855" cy="110018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FCD6037-6599-587A-D6B7-500F8FCA55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512" y="2194736"/>
            <a:ext cx="4947848" cy="9297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3807B2C-A503-6DF6-D7CA-196AC436D0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3983" y="2194735"/>
            <a:ext cx="2225856" cy="91291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82D134B-74BC-6502-1520-D4663074D3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512" y="6718456"/>
            <a:ext cx="4947848" cy="91373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7034B87-8CB8-5CBE-C894-0038A8FEC9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3982" y="6696491"/>
            <a:ext cx="2225855" cy="9357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D058EAB-171C-16CD-E569-FA262E565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115551"/>
              </p:ext>
            </p:extLst>
          </p:nvPr>
        </p:nvGraphicFramePr>
        <p:xfrm>
          <a:off x="8820150" y="2194735"/>
          <a:ext cx="8382762" cy="543745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191381">
                  <a:extLst>
                    <a:ext uri="{9D8B030D-6E8A-4147-A177-3AD203B41FA5}">
                      <a16:colId xmlns:a16="http://schemas.microsoft.com/office/drawing/2014/main" val="1723637848"/>
                    </a:ext>
                  </a:extLst>
                </a:gridCol>
                <a:gridCol w="4191381">
                  <a:extLst>
                    <a:ext uri="{9D8B030D-6E8A-4147-A177-3AD203B41FA5}">
                      <a16:colId xmlns:a16="http://schemas.microsoft.com/office/drawing/2014/main" val="2682102366"/>
                    </a:ext>
                  </a:extLst>
                </a:gridCol>
              </a:tblGrid>
              <a:tr h="4763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Questions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2392867386"/>
                  </a:ext>
                </a:extLst>
              </a:tr>
              <a:tr h="12133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much total revenue is generated?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Platform generates </a:t>
                      </a: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very high revenue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driven by massive unit volumes and premium pricing.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3197177619"/>
                  </a:ext>
                </a:extLst>
              </a:tr>
              <a:tr h="8448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many units are sold overall?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20M+ units sold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indicating strong demand and large customer base.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3914390455"/>
                  </a:ext>
                </a:extLst>
              </a:tr>
              <a:tr h="12133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the average selling price?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 selling price is </a:t>
                      </a:r>
                      <a:r>
                        <a:rPr lang="en-US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₹23.7K</a:t>
                      </a: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showing dominance of mid-to-high value products.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1065859578"/>
                  </a:ext>
                </a:extLst>
              </a:tr>
              <a:tr h="8448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aggressive are discounts?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 discount of </a:t>
                      </a:r>
                      <a:r>
                        <a:rPr lang="en-US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21.35%</a:t>
                      </a: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used as a major sales driver.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3084473225"/>
                  </a:ext>
                </a:extLst>
              </a:tr>
              <a:tr h="8448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is customer satisfaction?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 rating of </a:t>
                      </a: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3.0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indicating </a:t>
                      </a: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scope for quality &amp; service improvement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566705342"/>
                  </a:ext>
                </a:extLst>
              </a:tr>
            </a:tbl>
          </a:graphicData>
        </a:graphic>
      </p:graphicFrame>
      <p:sp>
        <p:nvSpPr>
          <p:cNvPr id="39" name="Arrow: Right 38">
            <a:extLst>
              <a:ext uri="{FF2B5EF4-FFF2-40B4-BE49-F238E27FC236}">
                <a16:creationId xmlns:a16="http://schemas.microsoft.com/office/drawing/2014/main" id="{08FAED70-9732-ED44-C5B8-19740E0220C4}"/>
              </a:ext>
            </a:extLst>
          </p:cNvPr>
          <p:cNvSpPr/>
          <p:nvPr/>
        </p:nvSpPr>
        <p:spPr>
          <a:xfrm>
            <a:off x="5547360" y="2645664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7D967FD6-A9AC-E174-6744-5D17EB61EE2F}"/>
              </a:ext>
            </a:extLst>
          </p:cNvPr>
          <p:cNvSpPr/>
          <p:nvPr/>
        </p:nvSpPr>
        <p:spPr>
          <a:xfrm>
            <a:off x="5547360" y="3651478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37B844F7-1974-B943-323A-370C2180BD6E}"/>
              </a:ext>
            </a:extLst>
          </p:cNvPr>
          <p:cNvSpPr/>
          <p:nvPr/>
        </p:nvSpPr>
        <p:spPr>
          <a:xfrm>
            <a:off x="5562190" y="4807328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A5E38203-A10D-8263-5AE5-DA3F56B8A611}"/>
              </a:ext>
            </a:extLst>
          </p:cNvPr>
          <p:cNvSpPr/>
          <p:nvPr/>
        </p:nvSpPr>
        <p:spPr>
          <a:xfrm>
            <a:off x="5547360" y="5933976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2A69978-2108-B9A5-5D00-D663A6CE8721}"/>
              </a:ext>
            </a:extLst>
          </p:cNvPr>
          <p:cNvSpPr/>
          <p:nvPr/>
        </p:nvSpPr>
        <p:spPr>
          <a:xfrm>
            <a:off x="5547360" y="7054613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789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">
              <a:schemeClr val="bg2">
                <a:tint val="93000"/>
                <a:shade val="98000"/>
                <a:satMod val="150000"/>
                <a:lumMod val="99000"/>
                <a:lumOff val="1000"/>
              </a:schemeClr>
            </a:gs>
            <a:gs pos="50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1644A-8184-967E-9370-E31283B6C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74" y="1098983"/>
            <a:ext cx="13459198" cy="797953"/>
          </a:xfrm>
        </p:spPr>
        <p:txBody>
          <a:bodyPr/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&amp; REVENUE ANALYSIS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F248BD-8AF6-C5BB-9AA1-0254EA55F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468" y="5088603"/>
            <a:ext cx="2438480" cy="11074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5FE7FC-A55C-4467-D90F-27B6A10AE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27" y="5088604"/>
            <a:ext cx="4690517" cy="11074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D7560D-7A25-1D09-CE58-B7F0A5198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27" y="6280246"/>
            <a:ext cx="4690517" cy="12574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AA18E57-974A-9EFC-63FB-4530813B2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468" y="6280246"/>
            <a:ext cx="2438479" cy="12574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2FCD72-B0F1-073B-4499-F810FE625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13" y="2475966"/>
            <a:ext cx="4685231" cy="9297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F901A77-C4AD-A864-BFCE-FC9A78B6D2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6468" y="2475966"/>
            <a:ext cx="2438480" cy="9297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EC6016-C6C9-F482-0975-E4D61DB5BB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27" y="3503159"/>
            <a:ext cx="4690517" cy="150127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79371DF-77B7-B5E7-9662-C8BE031145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6467" y="3503157"/>
            <a:ext cx="2438479" cy="150127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91E3F4A-F6C3-324E-0412-611963DC4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52872"/>
              </p:ext>
            </p:extLst>
          </p:nvPr>
        </p:nvGraphicFramePr>
        <p:xfrm>
          <a:off x="9135354" y="2475966"/>
          <a:ext cx="8006598" cy="513707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003299">
                  <a:extLst>
                    <a:ext uri="{9D8B030D-6E8A-4147-A177-3AD203B41FA5}">
                      <a16:colId xmlns:a16="http://schemas.microsoft.com/office/drawing/2014/main" val="1512921774"/>
                    </a:ext>
                  </a:extLst>
                </a:gridCol>
                <a:gridCol w="4003299">
                  <a:extLst>
                    <a:ext uri="{9D8B030D-6E8A-4147-A177-3AD203B41FA5}">
                      <a16:colId xmlns:a16="http://schemas.microsoft.com/office/drawing/2014/main" val="2396492642"/>
                    </a:ext>
                  </a:extLst>
                </a:gridCol>
              </a:tblGrid>
              <a:tr h="3864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Questions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736260522"/>
                  </a:ext>
                </a:extLst>
              </a:tr>
              <a:tr h="8860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the overall profitability?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Very high total profit</a:t>
                      </a:r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indicating strong margins at scale.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2895673165"/>
                  </a:ext>
                </a:extLst>
              </a:tr>
              <a:tr h="894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months generate the highest sales?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January, April, and December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are peak months, showing strong seasonality.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1144400061"/>
                  </a:ext>
                </a:extLst>
              </a:tr>
              <a:tr h="1163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 discounts impacting selling price?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 — </a:t>
                      </a: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final selling price is significantly lower than listed price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confirming discount-driven sales.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1956489706"/>
                  </a:ext>
                </a:extLst>
              </a:tr>
              <a:tr h="8860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categories sell the most units?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Toys and Electronics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lead in sales volume, driving overall demand.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247757140"/>
                  </a:ext>
                </a:extLst>
              </a:tr>
              <a:tr h="894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 all categories performing equally?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 volume is </a:t>
                      </a: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concentrated in top categories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while others contribute moderately.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1089999956"/>
                  </a:ext>
                </a:extLst>
              </a:tr>
            </a:tbl>
          </a:graphicData>
        </a:graphic>
      </p:graphicFrame>
      <p:sp>
        <p:nvSpPr>
          <p:cNvPr id="34" name="Arrow: Right 33">
            <a:extLst>
              <a:ext uri="{FF2B5EF4-FFF2-40B4-BE49-F238E27FC236}">
                <a16:creationId xmlns:a16="http://schemas.microsoft.com/office/drawing/2014/main" id="{7F7B9EDC-BDF0-6A82-0794-508B18FF96DF}"/>
              </a:ext>
            </a:extLst>
          </p:cNvPr>
          <p:cNvSpPr/>
          <p:nvPr/>
        </p:nvSpPr>
        <p:spPr>
          <a:xfrm>
            <a:off x="5378429" y="2958561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D052F893-E3AA-7EA0-D029-DBA0D968082D}"/>
              </a:ext>
            </a:extLst>
          </p:cNvPr>
          <p:cNvSpPr/>
          <p:nvPr/>
        </p:nvSpPr>
        <p:spPr>
          <a:xfrm>
            <a:off x="5364699" y="4141020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F298C2C3-B9E5-C375-89A5-F555977BF3A7}"/>
              </a:ext>
            </a:extLst>
          </p:cNvPr>
          <p:cNvSpPr/>
          <p:nvPr/>
        </p:nvSpPr>
        <p:spPr>
          <a:xfrm>
            <a:off x="5364699" y="5587472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AA55BE24-CD75-8EC0-EEAB-072B0F384BB3}"/>
              </a:ext>
            </a:extLst>
          </p:cNvPr>
          <p:cNvSpPr/>
          <p:nvPr/>
        </p:nvSpPr>
        <p:spPr>
          <a:xfrm>
            <a:off x="5364699" y="6854086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480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10353-4A1F-BB52-1508-B99D76C11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74" y="1098983"/>
            <a:ext cx="13849342" cy="797953"/>
          </a:xfrm>
        </p:spPr>
        <p:txBody>
          <a:bodyPr/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&amp; REVENUE ANALYSIS</a:t>
            </a: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08700-8D9E-602A-0C8E-0A0C4E011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32" y="2675903"/>
            <a:ext cx="4812995" cy="238884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CBCB17-9F22-63BC-5D89-60918F3A0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33" y="5172243"/>
            <a:ext cx="4812993" cy="23014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F63F10-9E64-1876-8741-6CED975E0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902" y="5172244"/>
            <a:ext cx="2450592" cy="23014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305F74-1143-6618-1151-E2E4C2AEC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4902" y="2675903"/>
            <a:ext cx="2450592" cy="238884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E66680-1664-2765-90C4-7B558E5F6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118540"/>
              </p:ext>
            </p:extLst>
          </p:nvPr>
        </p:nvGraphicFramePr>
        <p:xfrm>
          <a:off x="9509760" y="2465588"/>
          <a:ext cx="7485888" cy="500809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31951">
                  <a:extLst>
                    <a:ext uri="{9D8B030D-6E8A-4147-A177-3AD203B41FA5}">
                      <a16:colId xmlns:a16="http://schemas.microsoft.com/office/drawing/2014/main" val="3645076238"/>
                    </a:ext>
                  </a:extLst>
                </a:gridCol>
                <a:gridCol w="3853937">
                  <a:extLst>
                    <a:ext uri="{9D8B030D-6E8A-4147-A177-3AD203B41FA5}">
                      <a16:colId xmlns:a16="http://schemas.microsoft.com/office/drawing/2014/main" val="1098502799"/>
                    </a:ext>
                  </a:extLst>
                </a:gridCol>
              </a:tblGrid>
              <a:tr h="4413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Questions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4226461848"/>
                  </a:ext>
                </a:extLst>
              </a:tr>
              <a:tr h="1329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 discounts increase sales volume?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— Low and Medium discounts drive </a:t>
                      </a: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significantly higher unit sales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than no discount.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3019861267"/>
                  </a:ext>
                </a:extLst>
              </a:tr>
              <a:tr h="1107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discount range performs best?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 Discount (1–20%)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generates the </a:t>
                      </a: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highest sales volume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indicating optimal pricing.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1104923339"/>
                  </a:ext>
                </a:extLst>
              </a:tr>
              <a:tr h="10221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products generate the highest sales value?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</a:t>
                      </a: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small set of top products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contributes disproportionately to total sales.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1292204339"/>
                  </a:ext>
                </a:extLst>
              </a:tr>
              <a:tr h="1107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 revenue concentrated?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 — </a:t>
                      </a: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5 products dominate revenue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indicating product dependency risk.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3308142296"/>
                  </a:ext>
                </a:extLst>
              </a:tr>
            </a:tbl>
          </a:graphicData>
        </a:graphic>
      </p:graphicFrame>
      <p:sp>
        <p:nvSpPr>
          <p:cNvPr id="13" name="Arrow: Right 12">
            <a:extLst>
              <a:ext uri="{FF2B5EF4-FFF2-40B4-BE49-F238E27FC236}">
                <a16:creationId xmlns:a16="http://schemas.microsoft.com/office/drawing/2014/main" id="{F8B122DB-F1D3-6589-5D3C-78567B5DAFF4}"/>
              </a:ext>
            </a:extLst>
          </p:cNvPr>
          <p:cNvSpPr/>
          <p:nvPr/>
        </p:nvSpPr>
        <p:spPr>
          <a:xfrm>
            <a:off x="5596126" y="3756501"/>
            <a:ext cx="858776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2F13422-E8B2-C8CF-EDB4-5393B97DD56D}"/>
              </a:ext>
            </a:extLst>
          </p:cNvPr>
          <p:cNvSpPr/>
          <p:nvPr/>
        </p:nvSpPr>
        <p:spPr>
          <a:xfrm>
            <a:off x="5596126" y="6073617"/>
            <a:ext cx="858776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381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9319-94E9-5DFA-65CB-6414103AD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74" y="1098983"/>
            <a:ext cx="13629886" cy="797953"/>
          </a:xfrm>
        </p:spPr>
        <p:txBody>
          <a:bodyPr/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504C01-E39F-F52D-323F-187BF1E5E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646" y="3335567"/>
            <a:ext cx="2819644" cy="11583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FF877B-2510-8DF3-BCD3-C5DE998A7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646" y="4608377"/>
            <a:ext cx="2819644" cy="142100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42F821-FB95-B43A-1B8E-6480E0801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646" y="6188261"/>
            <a:ext cx="2819644" cy="142100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17018F-3903-D044-599C-1057B98C4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5646" y="2378734"/>
            <a:ext cx="2819644" cy="79795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550EB69-2D0D-6750-0C76-6A4D0FA6F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37" y="3335566"/>
            <a:ext cx="3986782" cy="11583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9BD2402-D85F-EF21-BFB5-3AC12F37B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137" y="4608377"/>
            <a:ext cx="3986782" cy="142100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696AF5-D6A7-50A4-E09B-9423AC8B8D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136" y="6188260"/>
            <a:ext cx="3986781" cy="142100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32DDCA6-8949-8017-5E9F-247A655724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136" y="2378734"/>
            <a:ext cx="3986783" cy="79795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BA55384-6124-0972-59B1-02286B1D7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14198"/>
              </p:ext>
            </p:extLst>
          </p:nvPr>
        </p:nvGraphicFramePr>
        <p:xfrm>
          <a:off x="8820150" y="2378731"/>
          <a:ext cx="8328848" cy="523053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164424">
                  <a:extLst>
                    <a:ext uri="{9D8B030D-6E8A-4147-A177-3AD203B41FA5}">
                      <a16:colId xmlns:a16="http://schemas.microsoft.com/office/drawing/2014/main" val="3962051572"/>
                    </a:ext>
                  </a:extLst>
                </a:gridCol>
                <a:gridCol w="4164424">
                  <a:extLst>
                    <a:ext uri="{9D8B030D-6E8A-4147-A177-3AD203B41FA5}">
                      <a16:colId xmlns:a16="http://schemas.microsoft.com/office/drawing/2014/main" val="3163223714"/>
                    </a:ext>
                  </a:extLst>
                </a:gridCol>
              </a:tblGrid>
              <a:tr h="428960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Questions</a:t>
                      </a:r>
                    </a:p>
                  </a:txBody>
                  <a:tcPr marL="75566" marR="75566" marT="37783" marB="37783"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</a:t>
                      </a:r>
                    </a:p>
                  </a:txBody>
                  <a:tcPr marL="75566" marR="75566" marT="37783" marB="37783" anchor="ctr"/>
                </a:tc>
                <a:extLst>
                  <a:ext uri="{0D108BD9-81ED-4DB2-BD59-A6C34878D82A}">
                    <a16:rowId xmlns:a16="http://schemas.microsoft.com/office/drawing/2014/main" val="2355831019"/>
                  </a:ext>
                </a:extLst>
              </a:tr>
              <a:tr h="761056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large is the product portfolio?</a:t>
                      </a:r>
                    </a:p>
                  </a:txBody>
                  <a:tcPr marL="75566" marR="75566" marT="37783" marB="37783"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80,000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products indicate a wide assortment strategy.</a:t>
                      </a:r>
                    </a:p>
                  </a:txBody>
                  <a:tcPr marL="75566" marR="75566" marT="37783" marB="37783" anchor="ctr"/>
                </a:tc>
                <a:extLst>
                  <a:ext uri="{0D108BD9-81ED-4DB2-BD59-A6C34878D82A}">
                    <a16:rowId xmlns:a16="http://schemas.microsoft.com/office/drawing/2014/main" val="2348638034"/>
                  </a:ext>
                </a:extLst>
              </a:tr>
              <a:tr h="761056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diversified is the catalog?</a:t>
                      </a:r>
                    </a:p>
                  </a:txBody>
                  <a:tcPr marL="75566" marR="75566" marT="37783" marB="37783"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categories and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brands, showing moderate brand concentration.</a:t>
                      </a:r>
                    </a:p>
                  </a:txBody>
                  <a:tcPr marL="75566" marR="75566" marT="37783" marB="37783" anchor="ctr"/>
                </a:tc>
                <a:extLst>
                  <a:ext uri="{0D108BD9-81ED-4DB2-BD59-A6C34878D82A}">
                    <a16:rowId xmlns:a16="http://schemas.microsoft.com/office/drawing/2014/main" val="2343143558"/>
                  </a:ext>
                </a:extLst>
              </a:tr>
              <a:tr h="1093153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 high-rated products selling well?</a:t>
                      </a:r>
                    </a:p>
                  </a:txBody>
                  <a:tcPr marL="75566" marR="75566" marT="37783" marB="37783"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always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 several high-rated products show low sales, indicating visibility or pricing issues.</a:t>
                      </a:r>
                    </a:p>
                  </a:txBody>
                  <a:tcPr marL="75566" marR="75566" marT="37783" marB="37783" anchor="ctr"/>
                </a:tc>
                <a:extLst>
                  <a:ext uri="{0D108BD9-81ED-4DB2-BD59-A6C34878D82A}">
                    <a16:rowId xmlns:a16="http://schemas.microsoft.com/office/drawing/2014/main" val="843792461"/>
                  </a:ext>
                </a:extLst>
              </a:tr>
              <a:tr h="1093153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 there inventory inefficiencies?</a:t>
                      </a:r>
                    </a:p>
                  </a:txBody>
                  <a:tcPr marL="75566" marR="75566" marT="37783" marB="37783"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— overstocked products with low sales suggest working-capital blockage.</a:t>
                      </a:r>
                    </a:p>
                  </a:txBody>
                  <a:tcPr marL="75566" marR="75566" marT="37783" marB="37783" anchor="ctr"/>
                </a:tc>
                <a:extLst>
                  <a:ext uri="{0D108BD9-81ED-4DB2-BD59-A6C34878D82A}">
                    <a16:rowId xmlns:a16="http://schemas.microsoft.com/office/drawing/2014/main" val="345837173"/>
                  </a:ext>
                </a:extLst>
              </a:tr>
              <a:tr h="1093153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products need attention?</a:t>
                      </a:r>
                    </a:p>
                  </a:txBody>
                  <a:tcPr marL="75566" marR="75566" marT="37783" marB="37783"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High-rating &amp; overstocked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items are priority candidates for marketing action.</a:t>
                      </a:r>
                    </a:p>
                  </a:txBody>
                  <a:tcPr marL="75566" marR="75566" marT="37783" marB="37783" anchor="ctr"/>
                </a:tc>
                <a:extLst>
                  <a:ext uri="{0D108BD9-81ED-4DB2-BD59-A6C34878D82A}">
                    <a16:rowId xmlns:a16="http://schemas.microsoft.com/office/drawing/2014/main" val="842015664"/>
                  </a:ext>
                </a:extLst>
              </a:tr>
            </a:tbl>
          </a:graphicData>
        </a:graphic>
      </p:graphicFrame>
      <p:sp>
        <p:nvSpPr>
          <p:cNvPr id="25" name="Arrow: Right 24">
            <a:extLst>
              <a:ext uri="{FF2B5EF4-FFF2-40B4-BE49-F238E27FC236}">
                <a16:creationId xmlns:a16="http://schemas.microsoft.com/office/drawing/2014/main" id="{4C0B2A33-1243-141A-414A-A230B5F772C4}"/>
              </a:ext>
            </a:extLst>
          </p:cNvPr>
          <p:cNvSpPr/>
          <p:nvPr/>
        </p:nvSpPr>
        <p:spPr>
          <a:xfrm>
            <a:off x="4773334" y="2800065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E5E0A6A2-A4CB-9948-E53A-83BA354120B0}"/>
              </a:ext>
            </a:extLst>
          </p:cNvPr>
          <p:cNvSpPr/>
          <p:nvPr/>
        </p:nvSpPr>
        <p:spPr>
          <a:xfrm>
            <a:off x="4759604" y="3982524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72E966B-8506-70F4-E667-89A3374DA09C}"/>
              </a:ext>
            </a:extLst>
          </p:cNvPr>
          <p:cNvSpPr/>
          <p:nvPr/>
        </p:nvSpPr>
        <p:spPr>
          <a:xfrm>
            <a:off x="4759604" y="5428976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BDEB62B-3860-DA83-A3AB-99BB57D50EB0}"/>
              </a:ext>
            </a:extLst>
          </p:cNvPr>
          <p:cNvSpPr/>
          <p:nvPr/>
        </p:nvSpPr>
        <p:spPr>
          <a:xfrm>
            <a:off x="4759604" y="6695590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601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9507-360D-807A-BBD7-4EB64CD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74" y="1098983"/>
            <a:ext cx="13763998" cy="797953"/>
          </a:xfrm>
        </p:spPr>
        <p:txBody>
          <a:bodyPr/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ANALYSIS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448C4-823D-34D3-84B7-1C7835F65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478" y="2619784"/>
            <a:ext cx="3373536" cy="27157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DBF814-8EF5-CD20-3045-F21579430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2624347"/>
            <a:ext cx="6144769" cy="27157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C26D52-B59C-8A46-0BB2-0C2DF8AA7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" y="5536759"/>
            <a:ext cx="6144768" cy="188405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BA410F-79D2-CF60-BFA4-30649A58B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478" y="5536759"/>
            <a:ext cx="3373536" cy="187949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B4A2179-8351-DC8C-73F0-FB347212A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338687"/>
              </p:ext>
            </p:extLst>
          </p:nvPr>
        </p:nvGraphicFramePr>
        <p:xfrm>
          <a:off x="11105433" y="2514619"/>
          <a:ext cx="6144768" cy="502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72384">
                  <a:extLst>
                    <a:ext uri="{9D8B030D-6E8A-4147-A177-3AD203B41FA5}">
                      <a16:colId xmlns:a16="http://schemas.microsoft.com/office/drawing/2014/main" val="1516094297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637045448"/>
                    </a:ext>
                  </a:extLst>
                </a:gridCol>
              </a:tblGrid>
              <a:tr h="341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5845293"/>
                  </a:ext>
                </a:extLst>
              </a:tr>
              <a:tr h="8528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products perform best by category?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3 products dominate each category</a:t>
                      </a:r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reflecting strong brand trust.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118235"/>
                  </a:ext>
                </a:extLst>
              </a:tr>
              <a:tr h="5970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 leaders evenly spread across categories?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Yes, </a:t>
                      </a: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every category has clear top performers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49585"/>
                  </a:ext>
                </a:extLst>
              </a:tr>
              <a:tr h="5970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 product scores impact success?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Very high scores (≈99+) directly drive top ranks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610612"/>
                  </a:ext>
                </a:extLst>
              </a:tr>
              <a:tr h="5970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payment mode is preferred?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COD is the most preferred payment method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774475"/>
                  </a:ext>
                </a:extLst>
              </a:tr>
              <a:tr h="8528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 digital payment adoption growing?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Card and UPI usage are nearly equal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showing rising adoption.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995874"/>
                  </a:ext>
                </a:extLst>
              </a:tr>
              <a:tr h="8528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 does COD dominate?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Customers prefer </a:t>
                      </a:r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trust and payment security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especially for costly items.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94641"/>
                  </a:ext>
                </a:extLst>
              </a:tr>
            </a:tbl>
          </a:graphicData>
        </a:graphic>
      </p:graphicFrame>
      <p:sp>
        <p:nvSpPr>
          <p:cNvPr id="16" name="Arrow: Right 15">
            <a:extLst>
              <a:ext uri="{FF2B5EF4-FFF2-40B4-BE49-F238E27FC236}">
                <a16:creationId xmlns:a16="http://schemas.microsoft.com/office/drawing/2014/main" id="{8E0F47DB-E460-8CD2-00EE-5FEE64CBEE4A}"/>
              </a:ext>
            </a:extLst>
          </p:cNvPr>
          <p:cNvSpPr/>
          <p:nvPr/>
        </p:nvSpPr>
        <p:spPr>
          <a:xfrm>
            <a:off x="6876288" y="3977658"/>
            <a:ext cx="514190" cy="640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8060763-03E2-C16A-5470-E6A0EF60BBCE}"/>
              </a:ext>
            </a:extLst>
          </p:cNvPr>
          <p:cNvSpPr/>
          <p:nvPr/>
        </p:nvSpPr>
        <p:spPr>
          <a:xfrm>
            <a:off x="6918959" y="6419884"/>
            <a:ext cx="428845" cy="658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277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3CC75-B3F7-5F80-BB13-75D6D4675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74" y="1098983"/>
            <a:ext cx="13898110" cy="797953"/>
          </a:xfrm>
        </p:spPr>
        <p:txBody>
          <a:bodyPr/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SELLER PERFORMANCE BASED ON CUSTOMER RATINGS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3BED2-0D95-4DC0-4743-1BBDFA220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43" y="4266493"/>
            <a:ext cx="5029381" cy="137840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2EFEE2-38D7-4F0B-A3FD-516581EFD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97" y="4266493"/>
            <a:ext cx="2230453" cy="137840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EACFB9-2068-DD4F-2EB5-F65A66BE3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43" y="5826892"/>
            <a:ext cx="5029381" cy="164606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C770A0-06C8-54C7-8D26-70F0B786F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699" y="5826892"/>
            <a:ext cx="2230453" cy="164606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E30E2B-2D6A-4463-4AB1-62AA5B376E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243" y="2634988"/>
            <a:ext cx="5029381" cy="14495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8D9ABC-8164-4093-D67C-E454041705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9697" y="2634988"/>
            <a:ext cx="2230453" cy="144950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A8DEDE78-59B0-4F6B-EAAF-07211630FF7D}"/>
              </a:ext>
            </a:extLst>
          </p:cNvPr>
          <p:cNvSpPr/>
          <p:nvPr/>
        </p:nvSpPr>
        <p:spPr>
          <a:xfrm>
            <a:off x="5846984" y="3364429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1A6CF7D9-71DE-4543-597C-BF514329BC76}"/>
              </a:ext>
            </a:extLst>
          </p:cNvPr>
          <p:cNvSpPr/>
          <p:nvPr/>
        </p:nvSpPr>
        <p:spPr>
          <a:xfrm>
            <a:off x="5853849" y="4845967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22EEC32E-A721-1E52-66E3-7509A62A1D75}"/>
              </a:ext>
            </a:extLst>
          </p:cNvPr>
          <p:cNvSpPr/>
          <p:nvPr/>
        </p:nvSpPr>
        <p:spPr>
          <a:xfrm>
            <a:off x="5833254" y="6540195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7E0D007-4999-3228-F9EC-F552EFE84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987899"/>
              </p:ext>
            </p:extLst>
          </p:nvPr>
        </p:nvGraphicFramePr>
        <p:xfrm>
          <a:off x="9278112" y="2634988"/>
          <a:ext cx="7851648" cy="483796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925824">
                  <a:extLst>
                    <a:ext uri="{9D8B030D-6E8A-4147-A177-3AD203B41FA5}">
                      <a16:colId xmlns:a16="http://schemas.microsoft.com/office/drawing/2014/main" val="128235401"/>
                    </a:ext>
                  </a:extLst>
                </a:gridCol>
                <a:gridCol w="3925824">
                  <a:extLst>
                    <a:ext uri="{9D8B030D-6E8A-4147-A177-3AD203B41FA5}">
                      <a16:colId xmlns:a16="http://schemas.microsoft.com/office/drawing/2014/main" val="3937598783"/>
                    </a:ext>
                  </a:extLst>
                </a:gridCol>
              </a:tblGrid>
              <a:tr h="686082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551441"/>
                  </a:ext>
                </a:extLst>
              </a:tr>
              <a:tr h="1215763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Who are the top revenue sellers?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UrbanRetails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&amp;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QuickShop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lead revenue contribution.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10574"/>
                  </a:ext>
                </a:extLst>
              </a:tr>
              <a:tr h="1215763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 more products guarantee higher revenue?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— efficiency matters more than product count.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3200564"/>
                  </a:ext>
                </a:extLst>
              </a:tr>
              <a:tr h="1720359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sellers need intervention?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revenue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but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 ratings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sellers need quality audits &amp; training.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55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964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007E-0736-1E01-7612-B43043A85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016" y="1098983"/>
            <a:ext cx="14825472" cy="797953"/>
          </a:xfrm>
        </p:spPr>
        <p:txBody>
          <a:bodyPr/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&amp; OPERATIONS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0A99C-119C-BDA9-9729-2C1A88109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82" y="2462784"/>
            <a:ext cx="5349704" cy="131352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A43022-BB8A-D93E-70C5-E29D9E76F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101" y="2462784"/>
            <a:ext cx="2301465" cy="131352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69A83A-C53A-6B11-6402-2E70C2983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82" y="3909089"/>
            <a:ext cx="5349704" cy="17967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19785B-C161-9CDA-F0CE-41A463045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506" y="3906900"/>
            <a:ext cx="2309060" cy="17967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98A5FE-1DB4-C9F1-99C0-6E7894649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82" y="5805580"/>
            <a:ext cx="5349704" cy="17967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F34BD9-219D-3956-AF9F-B6A0EF01EC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1506" y="5805580"/>
            <a:ext cx="2309059" cy="179676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7CE96ECC-5A85-7D85-2CAE-DE35C2252CA5}"/>
              </a:ext>
            </a:extLst>
          </p:cNvPr>
          <p:cNvSpPr/>
          <p:nvPr/>
        </p:nvSpPr>
        <p:spPr>
          <a:xfrm>
            <a:off x="6093570" y="3132781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01F0A53-441D-9621-6C77-94B945936A07}"/>
              </a:ext>
            </a:extLst>
          </p:cNvPr>
          <p:cNvSpPr/>
          <p:nvPr/>
        </p:nvSpPr>
        <p:spPr>
          <a:xfrm>
            <a:off x="6100435" y="4614319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1316EDE-9103-C546-33F9-20BFBD0EEC84}"/>
              </a:ext>
            </a:extLst>
          </p:cNvPr>
          <p:cNvSpPr/>
          <p:nvPr/>
        </p:nvSpPr>
        <p:spPr>
          <a:xfrm>
            <a:off x="6079840" y="6308547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9C7041F-ACDA-4B46-35BA-48AB9DF33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516247"/>
              </p:ext>
            </p:extLst>
          </p:nvPr>
        </p:nvGraphicFramePr>
        <p:xfrm>
          <a:off x="9363456" y="2462784"/>
          <a:ext cx="7593562" cy="513956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766300">
                  <a:extLst>
                    <a:ext uri="{9D8B030D-6E8A-4147-A177-3AD203B41FA5}">
                      <a16:colId xmlns:a16="http://schemas.microsoft.com/office/drawing/2014/main" val="550316156"/>
                    </a:ext>
                  </a:extLst>
                </a:gridCol>
                <a:gridCol w="3827262">
                  <a:extLst>
                    <a:ext uri="{9D8B030D-6E8A-4147-A177-3AD203B41FA5}">
                      <a16:colId xmlns:a16="http://schemas.microsoft.com/office/drawing/2014/main" val="3897762618"/>
                    </a:ext>
                  </a:extLst>
                </a:gridCol>
              </a:tblGrid>
              <a:tr h="537661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</a:rPr>
                        <a:t>Business Question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</a:rPr>
                        <a:t>Insight</a:t>
                      </a:r>
                      <a:endParaRPr lang="en-IN" sz="1800" b="1" kern="1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206844"/>
                  </a:ext>
                </a:extLst>
              </a:tr>
              <a:tr h="939650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How efficient is delivery performance?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36.35%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</a:rPr>
                        <a:t> late deliveries is operationally high.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0611769"/>
                  </a:ext>
                </a:extLst>
              </a:tr>
              <a:tr h="952758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What is the dominant delivery speed?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</a:rPr>
                        <a:t>Majority deliveries fall under 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</a:rPr>
                        <a:t>Medium &amp; Slow buckets.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565534"/>
                  </a:ext>
                </a:extLst>
              </a:tr>
              <a:tr h="1756736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Does delivery impact customer trust?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High late delivery percentage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</a:rPr>
                        <a:t>likely contributes to average ratings (3.0).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626201"/>
                  </a:ext>
                </a:extLst>
              </a:tr>
              <a:tr h="952758"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</a:rPr>
                        <a:t>Where is process leakage?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516042" rtl="0" eaLnBrk="1" latinLnBrk="0" hangingPunct="1"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</a:rPr>
                        <a:t>Orders exceeding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</a:rPr>
                        <a:t>7 days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</a:rPr>
                        <a:t>need logistics optimization.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460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901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1AA6-9260-45E0-2566-E4AE911E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098983"/>
            <a:ext cx="14910816" cy="797953"/>
          </a:xfrm>
        </p:spPr>
        <p:txBody>
          <a:bodyPr/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TIME-BASED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1FB6F-132F-AEFA-FD2A-69C2D87DC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16" y="5648561"/>
            <a:ext cx="5143836" cy="194182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612A80-EA99-105A-BE7F-647B35472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744" y="5648561"/>
            <a:ext cx="2141406" cy="194182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CAC035-2AC6-F1B5-51F5-236B511FB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16" y="4175124"/>
            <a:ext cx="5143836" cy="123454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1C6745-5E39-C71B-F2DA-65FDB0978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744" y="4168313"/>
            <a:ext cx="2141405" cy="12413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72308B-F4E9-69A6-9583-DB1FABD371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15" y="2517785"/>
            <a:ext cx="5143837" cy="149211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0B85D4-ECD6-37D9-BAE3-4C7F215AB7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8744" y="2517784"/>
            <a:ext cx="2141406" cy="149211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CC39CD1F-633E-7986-FC5E-22224085BBF4}"/>
              </a:ext>
            </a:extLst>
          </p:cNvPr>
          <p:cNvSpPr/>
          <p:nvPr/>
        </p:nvSpPr>
        <p:spPr>
          <a:xfrm>
            <a:off x="5956669" y="3230317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811DC9-652A-DCF1-2DB0-2C1214D43B93}"/>
              </a:ext>
            </a:extLst>
          </p:cNvPr>
          <p:cNvSpPr/>
          <p:nvPr/>
        </p:nvSpPr>
        <p:spPr>
          <a:xfrm>
            <a:off x="5963534" y="4711855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B4F6BAB-80DE-DDDB-2CC4-1E4C776BADA4}"/>
              </a:ext>
            </a:extLst>
          </p:cNvPr>
          <p:cNvSpPr/>
          <p:nvPr/>
        </p:nvSpPr>
        <p:spPr>
          <a:xfrm>
            <a:off x="5942939" y="6406083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77881E8-3040-1ED1-B55F-687597387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12764"/>
              </p:ext>
            </p:extLst>
          </p:nvPr>
        </p:nvGraphicFramePr>
        <p:xfrm>
          <a:off x="9412224" y="2517785"/>
          <a:ext cx="7507560" cy="507562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753780">
                  <a:extLst>
                    <a:ext uri="{9D8B030D-6E8A-4147-A177-3AD203B41FA5}">
                      <a16:colId xmlns:a16="http://schemas.microsoft.com/office/drawing/2014/main" val="1831112299"/>
                    </a:ext>
                  </a:extLst>
                </a:gridCol>
                <a:gridCol w="3753780">
                  <a:extLst>
                    <a:ext uri="{9D8B030D-6E8A-4147-A177-3AD203B41FA5}">
                      <a16:colId xmlns:a16="http://schemas.microsoft.com/office/drawing/2014/main" val="2141192396"/>
                    </a:ext>
                  </a:extLst>
                </a:gridCol>
              </a:tblGrid>
              <a:tr h="3933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2805510411"/>
                  </a:ext>
                </a:extLst>
              </a:tr>
              <a:tr h="993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month records the highest sales?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January is the peak sales month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driven by seasonal demand.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3930523696"/>
                  </a:ext>
                </a:extLst>
              </a:tr>
              <a:tr h="993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 which days are most products listed?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Weekdays outperform weekends</a:t>
                      </a: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indicating seller-driven activity.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4007962257"/>
                  </a:ext>
                </a:extLst>
              </a:tr>
              <a:tr h="6977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Does festive season impact sales?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Yes, </a:t>
                      </a:r>
                      <a:r>
                        <a:rPr lang="en-US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Q4 and Q1 consistently show higher sales spikes</a:t>
                      </a: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3934188059"/>
                  </a:ext>
                </a:extLst>
              </a:tr>
              <a:tr h="993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 sales evenly distributed across years?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No, sales fluctuate, showing </a:t>
                      </a: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seasonal and annual volatility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910685798"/>
                  </a:ext>
                </a:extLst>
              </a:tr>
              <a:tr h="1002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Which periods need focus?</a:t>
                      </a:r>
                    </a:p>
                  </a:txBody>
                  <a:tcPr marL="89147" marR="89147" marT="44573" marB="445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Non-peak months require </a:t>
                      </a: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targeted promotions to stabilize sales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89147" marR="89147" marT="44573" marB="44573" anchor="ctr"/>
                </a:tc>
                <a:extLst>
                  <a:ext uri="{0D108BD9-81ED-4DB2-BD59-A6C34878D82A}">
                    <a16:rowId xmlns:a16="http://schemas.microsoft.com/office/drawing/2014/main" val="3134149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136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72410-4608-97EB-2B0D-80A4E421A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74" y="1098983"/>
            <a:ext cx="13727422" cy="797953"/>
          </a:xfrm>
        </p:spPr>
        <p:txBody>
          <a:bodyPr/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TIME-BASED TRENDS</a:t>
            </a:r>
            <a:endParaRPr lang="en-IN" sz="4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742524-FA67-7A4D-B0D5-3180253EF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6" y="2571726"/>
            <a:ext cx="4486655" cy="449963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2691DA-E769-37C6-BCD6-6AA9A0B6B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926" y="2571726"/>
            <a:ext cx="3398815" cy="449963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932826B5-B644-080E-EFE3-421E1BC3C1C8}"/>
              </a:ext>
            </a:extLst>
          </p:cNvPr>
          <p:cNvSpPr/>
          <p:nvPr/>
        </p:nvSpPr>
        <p:spPr>
          <a:xfrm>
            <a:off x="5251845" y="4837711"/>
            <a:ext cx="636622" cy="1097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F83FBCA-F30F-A35F-8224-7FA79F063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608352"/>
              </p:ext>
            </p:extLst>
          </p:nvPr>
        </p:nvGraphicFramePr>
        <p:xfrm>
          <a:off x="9620822" y="2822469"/>
          <a:ext cx="7483176" cy="408802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735492">
                  <a:extLst>
                    <a:ext uri="{9D8B030D-6E8A-4147-A177-3AD203B41FA5}">
                      <a16:colId xmlns:a16="http://schemas.microsoft.com/office/drawing/2014/main" val="649436511"/>
                    </a:ext>
                  </a:extLst>
                </a:gridCol>
                <a:gridCol w="3747684">
                  <a:extLst>
                    <a:ext uri="{9D8B030D-6E8A-4147-A177-3AD203B41FA5}">
                      <a16:colId xmlns:a16="http://schemas.microsoft.com/office/drawing/2014/main" val="3410726175"/>
                    </a:ext>
                  </a:extLst>
                </a:gridCol>
              </a:tblGrid>
              <a:tr h="1088268">
                <a:tc>
                  <a:txBody>
                    <a:bodyPr/>
                    <a:lstStyle/>
                    <a:p>
                      <a:pPr marL="0" marR="0" lvl="0" indent="0" algn="ctr" defTabSz="516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Questions</a:t>
                      </a:r>
                    </a:p>
                    <a:p>
                      <a:pPr algn="ctr">
                        <a:buNone/>
                      </a:pPr>
                      <a:endParaRPr lang="en-IN" sz="2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16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Insights</a:t>
                      </a:r>
                    </a:p>
                    <a:p>
                      <a:pPr>
                        <a:buNone/>
                      </a:pP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355911"/>
                  </a:ext>
                </a:extLst>
              </a:tr>
              <a:tr h="1499878">
                <a:tc>
                  <a:txBody>
                    <a:bodyPr/>
                    <a:lstStyle/>
                    <a:p>
                      <a:pPr marL="0" marR="0" lvl="0" indent="0" algn="ctr" defTabSz="516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 the business growing YoY?</a:t>
                      </a:r>
                    </a:p>
                    <a:p>
                      <a:pPr algn="ctr">
                        <a:buNone/>
                      </a:pPr>
                      <a:endParaRPr lang="en-IN" sz="2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160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Growth is </a:t>
                      </a: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inconsistent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with a sharp drop in 2023.</a:t>
                      </a:r>
                    </a:p>
                    <a:p>
                      <a:pPr>
                        <a:buNone/>
                      </a:pP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2745168"/>
                  </a:ext>
                </a:extLst>
              </a:tr>
              <a:tr h="14998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 growth sustainable?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Current YoY decline signals </a:t>
                      </a: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retention &amp; demand risk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035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200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C309A9-06F7-DCA9-796E-A08BD1102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74" y="1098983"/>
            <a:ext cx="14056606" cy="797953"/>
          </a:xfrm>
        </p:spPr>
        <p:txBody>
          <a:bodyPr/>
          <a:lstStyle/>
          <a:p>
            <a:pPr algn="ctr"/>
            <a:r>
              <a:rPr lang="en-IN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 &amp; SUGGESTIONS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A3B674-39E1-508C-E927-508E66AA8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1074" y="2613365"/>
            <a:ext cx="6981399" cy="650429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DB50A8-2515-6A4F-9360-11047EBF3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1074" y="3377184"/>
            <a:ext cx="6981400" cy="424731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platform shows strong revenue and scale, driven by high volumes and discounts.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are concentrated around specific products, sellers, and seasons, increasing dependency risk.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inefficiencies (late deliveries) and average customer ratings threaten long-term growth.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and product visibility issues prevent high-quality products from reaching full potential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C9DCA3-3208-8911-6666-99B9FB7C1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820150" y="2613365"/>
            <a:ext cx="6981402" cy="650429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BUSSINESS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ln>
                  <a:solidFill>
                    <a:sysClr val="windowText" lastClr="000000"/>
                  </a:solidFill>
                </a:ln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SUGGESTIONS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8C2CE5B-382D-8512-1C8D-B731E0D1C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820150" y="3377185"/>
            <a:ext cx="6981402" cy="4247316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 Delivery Delays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Optimize logistics and enforce seller SLAs.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 Product Visibility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Promote high-rated, low-selling products using recommendations.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Seller Quality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Monitor low-rating sellers and enforce quality standards.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Discounts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Use low–medium discounts selectively to protect margins. 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Clear overstocked items and improve demand forecasting.</a:t>
            </a:r>
          </a:p>
        </p:txBody>
      </p:sp>
    </p:spTree>
    <p:extLst>
      <p:ext uri="{BB962C8B-B14F-4D97-AF65-F5344CB8AC3E}">
        <p14:creationId xmlns:p14="http://schemas.microsoft.com/office/powerpoint/2010/main" val="2628202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B244D4E-E4F8-82C2-0861-76E8B794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78" y="3022268"/>
            <a:ext cx="6777978" cy="2577761"/>
          </a:xfrm>
        </p:spPr>
        <p:txBody>
          <a:bodyPr/>
          <a:lstStyle/>
          <a:p>
            <a:pPr algn="ctr"/>
            <a:r>
              <a:rPr lang="en-IN" sz="6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pic>
        <p:nvPicPr>
          <p:cNvPr id="10" name="Picture 9" descr="Different blue shopping bags with one yellow bag in middle">
            <a:extLst>
              <a:ext uri="{FF2B5EF4-FFF2-40B4-BE49-F238E27FC236}">
                <a16:creationId xmlns:a16="http://schemas.microsoft.com/office/drawing/2014/main" id="{BADD7AA6-6BCD-3944-E56E-9B350CDEA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9216" y="2756668"/>
            <a:ext cx="6486616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45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3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FFFF00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879</TotalTime>
  <Words>1073</Words>
  <Application>Microsoft Office PowerPoint</Application>
  <PresentationFormat>Custom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Ion Boardroom</vt:lpstr>
      <vt:lpstr>FLIPKART PRODUCT &amp; SALES INSIGHTS</vt:lpstr>
      <vt:lpstr>PROBLEM STATEMENT        &amp;       OBJECTIVE OF THE ANALYSIS</vt:lpstr>
      <vt:lpstr>DATASET DESCRIPTION</vt:lpstr>
      <vt:lpstr>KEY METRICS</vt:lpstr>
      <vt:lpstr>SALES &amp; REVENUE ANALYSIS</vt:lpstr>
      <vt:lpstr>SALES &amp; REVENUE ANALYSIS</vt:lpstr>
      <vt:lpstr>PRODUCT ANALYSIS</vt:lpstr>
      <vt:lpstr>PRODUCT ANALYSIS</vt:lpstr>
      <vt:lpstr>SELLER PERFORMANCE BASED ON CUSTOMER RATINGS</vt:lpstr>
      <vt:lpstr>DELIVERY &amp; OPERATIONS</vt:lpstr>
      <vt:lpstr>TIME-BASED TRENDS</vt:lpstr>
      <vt:lpstr>TIME-BASED TRENDS</vt:lpstr>
      <vt:lpstr>CONCLUSIONS &amp; SUGGESTIONS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Oishika Bose</dc:creator>
  <cp:lastModifiedBy>Oishika Bose</cp:lastModifiedBy>
  <cp:revision>10</cp:revision>
  <dcterms:created xsi:type="dcterms:W3CDTF">2026-01-13T05:24:36Z</dcterms:created>
  <dcterms:modified xsi:type="dcterms:W3CDTF">2026-01-13T20:04:25Z</dcterms:modified>
</cp:coreProperties>
</file>